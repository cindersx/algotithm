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8" r:id="rId3"/>
    <p:sldId id="259" r:id="rId4"/>
    <p:sldId id="257" r:id="rId5"/>
    <p:sldId id="25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7"/>
    <p:sldId id="270" r:id="rId18"/>
    <p:sldId id="272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92680"/>
            <a:ext cx="10515600" cy="1325563"/>
          </a:xfrm>
        </p:spPr>
        <p:txBody>
          <a:bodyPr/>
          <a:p>
            <a:pPr algn="ctr"/>
            <a:r>
              <a:rPr lang="en-US" altLang="zh-CN"/>
              <a:t>SQL</a:t>
            </a:r>
            <a:r>
              <a:rPr lang="zh-CN" altLang="en-US"/>
              <a:t>进阶指南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4405" y="972185"/>
            <a:ext cx="8254365" cy="4838700"/>
          </a:xfrm>
        </p:spPr>
        <p:txBody>
          <a:bodyPr>
            <a:normAutofit/>
          </a:bodyPr>
          <a:p>
            <a:pPr marL="0" indent="0" algn="l">
              <a:buFont typeface="Wingdings" panose="05000000000000000000" charset="0"/>
            </a:pP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CASE WHEN</a:t>
            </a:r>
            <a:br>
              <a:rPr lang="en-US" altLang="zh-CN"/>
            </a:br>
            <a:r>
              <a:rPr lang="en-US" altLang="zh-CN"/>
              <a:t>2</a:t>
            </a:r>
            <a:r>
              <a:rPr lang="zh-CN" altLang="en-US"/>
              <a:t>、窗口函数</a:t>
            </a:r>
            <a:br>
              <a:rPr lang="zh-CN" altLang="en-US"/>
            </a:br>
            <a:r>
              <a:rPr lang="en-US" altLang="zh-CN"/>
              <a:t>3</a:t>
            </a:r>
            <a:r>
              <a:rPr lang="zh-CN" altLang="en-US"/>
              <a:t>、分析函数</a:t>
            </a:r>
            <a:br>
              <a:rPr lang="zh-CN" altLang="en-US"/>
            </a:b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case when </a:t>
            </a:r>
            <a:r>
              <a:rPr lang="zh-CN" altLang="en-US"/>
              <a:t>与分析函数联合</a:t>
            </a:r>
            <a:br>
              <a:rPr lang="zh-CN" altLang="en-US"/>
            </a:br>
            <a:r>
              <a:rPr lang="en-US" altLang="zh-CN"/>
              <a:t>5</a:t>
            </a:r>
            <a:r>
              <a:rPr lang="zh-CN" altLang="en-US"/>
              <a:t>、列拆行</a:t>
            </a:r>
            <a:r>
              <a:rPr lang="en-US" altLang="zh-CN"/>
              <a:t>/</a:t>
            </a:r>
            <a:r>
              <a:rPr lang="zh-CN" altLang="en-US"/>
              <a:t>行合列</a:t>
            </a:r>
            <a:br>
              <a:rPr lang="zh-CN" altLang="en-US"/>
            </a:br>
            <a:r>
              <a:rPr lang="en-US" altLang="zh-CN"/>
              <a:t>6</a:t>
            </a:r>
            <a:r>
              <a:rPr lang="zh-CN" altLang="en-US"/>
              <a:t>、数据立方体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435610" y="182245"/>
            <a:ext cx="2766695" cy="615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/>
              <a:t>目录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3670" y="93980"/>
            <a:ext cx="4678045" cy="448310"/>
          </a:xfrm>
        </p:spPr>
        <p:txBody>
          <a:bodyPr>
            <a:noAutofit/>
          </a:bodyPr>
          <a:p>
            <a:r>
              <a:rPr lang="zh-CN" altLang="en-US" sz="2400"/>
              <a:t>数据准备</a:t>
            </a:r>
            <a:endParaRPr lang="zh-CN" altLang="en-US" sz="24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0700" y="605790"/>
            <a:ext cx="10980420" cy="5151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71145" y="218440"/>
            <a:ext cx="5127625" cy="476250"/>
          </a:xfrm>
        </p:spPr>
        <p:txBody>
          <a:bodyPr>
            <a:normAutofit/>
          </a:bodyPr>
          <a:p>
            <a:pPr algn="l"/>
            <a:r>
              <a:rPr lang="en-US" altLang="zh-CN" sz="2400"/>
              <a:t>SQL-CASE WHEN /if() /nvl()</a:t>
            </a:r>
            <a:endParaRPr lang="en-US" altLang="zh-CN" sz="2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71805" y="772795"/>
            <a:ext cx="3938905" cy="5893435"/>
          </a:xfrm>
        </p:spPr>
        <p:txBody>
          <a:bodyPr/>
          <a:p>
            <a:pPr algn="l"/>
            <a:r>
              <a:rPr lang="en-US" altLang="zh-CN" sz="1800"/>
              <a:t>CASE WHEN</a:t>
            </a:r>
            <a:r>
              <a:rPr lang="zh-CN" altLang="en-US" sz="1800"/>
              <a:t>与</a:t>
            </a:r>
            <a:r>
              <a:rPr lang="en-US" altLang="zh-CN" sz="1800"/>
              <a:t>IF()\NVL()</a:t>
            </a:r>
            <a:endParaRPr lang="en-US" altLang="zh-CN" sz="1800"/>
          </a:p>
          <a:p>
            <a:pPr algn="l"/>
            <a:r>
              <a:rPr lang="en-US" altLang="zh-CN" sz="1800"/>
              <a:t>       1</a:t>
            </a:r>
            <a:r>
              <a:rPr lang="zh-CN" altLang="en-US" sz="1800"/>
              <a:t>、</a:t>
            </a:r>
            <a:r>
              <a:rPr lang="en-US" altLang="zh-CN" sz="1800"/>
              <a:t>case when </a:t>
            </a:r>
            <a:r>
              <a:rPr lang="zh-CN" altLang="en-US" sz="1800"/>
              <a:t>语法中</a:t>
            </a:r>
            <a:r>
              <a:rPr lang="en-US" altLang="zh-CN" sz="1800"/>
              <a:t>when </a:t>
            </a:r>
            <a:r>
              <a:rPr lang="zh-CN" altLang="en-US" sz="1800"/>
              <a:t>语句可以多次使用，最后可以使用</a:t>
            </a:r>
            <a:r>
              <a:rPr lang="en-US" altLang="zh-CN" sz="1800"/>
              <a:t>else ,</a:t>
            </a:r>
            <a:r>
              <a:rPr lang="zh-CN" altLang="en-US" sz="1800"/>
              <a:t>类似</a:t>
            </a:r>
            <a:r>
              <a:rPr lang="en-US" altLang="zh-CN" sz="1800"/>
              <a:t>if --else if --else if --else .</a:t>
            </a:r>
            <a:endParaRPr lang="en-US" altLang="zh-CN" sz="1800"/>
          </a:p>
          <a:p>
            <a:pPr algn="l"/>
            <a:r>
              <a:rPr lang="en-US" altLang="zh-CN" sz="1800"/>
              <a:t>       2</a:t>
            </a:r>
            <a:r>
              <a:rPr lang="zh-CN" altLang="en-US" sz="1800"/>
              <a:t>、</a:t>
            </a:r>
            <a:r>
              <a:rPr lang="en-US" altLang="zh-CN" sz="1800"/>
              <a:t>if()</a:t>
            </a:r>
            <a:r>
              <a:rPr lang="zh-CN" altLang="en-US" sz="1800"/>
              <a:t>可以写成与</a:t>
            </a:r>
            <a:r>
              <a:rPr lang="en-US" altLang="zh-CN" sz="1800"/>
              <a:t>case when </a:t>
            </a:r>
            <a:r>
              <a:rPr lang="zh-CN" altLang="en-US" sz="1800"/>
              <a:t>等价。但条理性比较差，不容易组织代码</a:t>
            </a:r>
            <a:endParaRPr lang="zh-CN" altLang="en-US" sz="1800"/>
          </a:p>
          <a:p>
            <a:pPr algn="l"/>
            <a:r>
              <a:rPr lang="en-US" altLang="zh-CN" sz="1800"/>
              <a:t>       3</a:t>
            </a:r>
            <a:r>
              <a:rPr lang="zh-CN" altLang="en-US" sz="1800"/>
              <a:t>、</a:t>
            </a:r>
            <a:r>
              <a:rPr lang="en-US" altLang="zh-CN" sz="1800"/>
              <a:t>nvl() </a:t>
            </a:r>
            <a:r>
              <a:rPr lang="zh-CN" altLang="en-US" sz="1800"/>
              <a:t>更简单，但功能有限。完全可以使用</a:t>
            </a:r>
            <a:r>
              <a:rPr lang="en-US" altLang="zh-CN" sz="1800"/>
              <a:t>case when /if()</a:t>
            </a:r>
            <a:r>
              <a:rPr lang="zh-CN" altLang="en-US" sz="1800"/>
              <a:t>替换</a:t>
            </a:r>
            <a:endParaRPr lang="zh-CN" altLang="en-US" sz="1800"/>
          </a:p>
          <a:p>
            <a:pPr algn="l"/>
            <a:r>
              <a:rPr lang="zh-CN" altLang="en-US" sz="1800"/>
              <a:t>常见用法</a:t>
            </a:r>
            <a:endParaRPr lang="zh-CN" altLang="en-US" sz="1800"/>
          </a:p>
          <a:p>
            <a:pPr algn="l"/>
            <a:r>
              <a:rPr lang="zh-CN" altLang="en-US" sz="1800"/>
              <a:t>      </a:t>
            </a:r>
            <a:r>
              <a:rPr lang="en-US" altLang="zh-CN" sz="1800"/>
              <a:t>1</a:t>
            </a:r>
            <a:r>
              <a:rPr lang="zh-CN" altLang="en-US" sz="1800"/>
              <a:t>、编码转换</a:t>
            </a:r>
            <a:r>
              <a:rPr lang="zh-CN" altLang="en-US" sz="1800"/>
              <a:t> </a:t>
            </a:r>
            <a:r>
              <a:rPr lang="en-US" altLang="zh-CN" sz="1800"/>
              <a:t>---- </a:t>
            </a:r>
            <a:r>
              <a:rPr lang="zh-CN" altLang="en-US" sz="1800"/>
              <a:t>如右图</a:t>
            </a:r>
            <a:endParaRPr lang="zh-CN" altLang="en-US" sz="1800"/>
          </a:p>
          <a:p>
            <a:pPr algn="l"/>
            <a:r>
              <a:rPr lang="zh-CN" altLang="en-US" sz="1800"/>
              <a:t>      </a:t>
            </a:r>
            <a:r>
              <a:rPr lang="en-US" altLang="zh-CN" sz="1800"/>
              <a:t>2</a:t>
            </a:r>
            <a:r>
              <a:rPr lang="zh-CN" altLang="en-US" sz="1800"/>
              <a:t>、连续数据离散化</a:t>
            </a:r>
            <a:endParaRPr lang="zh-CN" altLang="en-US" sz="1800"/>
          </a:p>
          <a:p>
            <a:pPr algn="l"/>
            <a:r>
              <a:rPr lang="zh-CN" altLang="en-US" sz="1800"/>
              <a:t>      </a:t>
            </a:r>
            <a:r>
              <a:rPr lang="en-US" altLang="zh-CN" sz="1800"/>
              <a:t>3</a:t>
            </a:r>
            <a:r>
              <a:rPr lang="zh-CN" altLang="en-US" sz="1800"/>
              <a:t>、分类合并</a:t>
            </a:r>
            <a:endParaRPr lang="zh-CN" altLang="en-US" sz="1800"/>
          </a:p>
          <a:p>
            <a:pPr algn="l"/>
            <a:r>
              <a:rPr lang="en-US" altLang="zh-CN" sz="1800"/>
              <a:t>      4</a:t>
            </a:r>
            <a:r>
              <a:rPr lang="zh-CN" altLang="en-US" sz="1800"/>
              <a:t>、</a:t>
            </a:r>
            <a:r>
              <a:rPr lang="en-US" altLang="zh-CN" sz="1800"/>
              <a:t>case when </a:t>
            </a:r>
            <a:r>
              <a:rPr lang="zh-CN" altLang="en-US" sz="1800"/>
              <a:t>经常与聚合函数配合使用，实现分支计算</a:t>
            </a:r>
            <a:endParaRPr lang="zh-CN" altLang="en-US" sz="1800"/>
          </a:p>
          <a:p>
            <a:pPr algn="l"/>
            <a:r>
              <a:rPr lang="zh-CN" altLang="en-US" sz="1800"/>
              <a:t>      </a:t>
            </a:r>
            <a:r>
              <a:rPr lang="en-US" altLang="zh-CN" sz="1800"/>
              <a:t>5</a:t>
            </a:r>
            <a:r>
              <a:rPr lang="zh-CN" altLang="en-US" sz="1800"/>
              <a:t>、与聚合函数配合使用，实现行转列功能</a:t>
            </a:r>
            <a:endParaRPr lang="zh-CN" altLang="en-US" sz="1800"/>
          </a:p>
          <a:p>
            <a:pPr algn="l"/>
            <a:r>
              <a:rPr lang="zh-CN" altLang="en-US" sz="1800"/>
              <a:t>      </a:t>
            </a:r>
            <a:endParaRPr lang="en-US" altLang="zh-CN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4215" y="772160"/>
            <a:ext cx="6904355" cy="4226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140" y="133350"/>
            <a:ext cx="10515600" cy="525780"/>
          </a:xfrm>
        </p:spPr>
        <p:txBody>
          <a:bodyPr>
            <a:normAutofit fontScale="90000"/>
          </a:bodyPr>
          <a:p>
            <a:r>
              <a:rPr lang="en-US" altLang="zh-CN"/>
              <a:t>case when -- </a:t>
            </a:r>
            <a:r>
              <a:rPr lang="zh-CN" altLang="en-US"/>
              <a:t>离散化 、合并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48030" y="1229360"/>
            <a:ext cx="4295775" cy="2234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0" y="3866515"/>
            <a:ext cx="541909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1140" y="133350"/>
            <a:ext cx="10515600" cy="525780"/>
          </a:xfrm>
        </p:spPr>
        <p:txBody>
          <a:bodyPr>
            <a:normAutofit fontScale="90000"/>
          </a:bodyPr>
          <a:p>
            <a:r>
              <a:rPr lang="en-US" altLang="zh-CN"/>
              <a:t>case when -- </a:t>
            </a:r>
            <a:r>
              <a:rPr lang="zh-CN" altLang="en-US"/>
              <a:t>分支计算、行转列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85" y="1366520"/>
            <a:ext cx="6866255" cy="19551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215" y="3617595"/>
            <a:ext cx="6686550" cy="2127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270" y="81280"/>
            <a:ext cx="10515600" cy="603250"/>
          </a:xfrm>
        </p:spPr>
        <p:txBody>
          <a:bodyPr>
            <a:normAutofit fontScale="90000"/>
          </a:bodyPr>
          <a:p>
            <a:r>
              <a:rPr lang="zh-CN" altLang="en-US"/>
              <a:t>窗口函数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4695" y="908685"/>
            <a:ext cx="10619105" cy="5268595"/>
          </a:xfrm>
        </p:spPr>
        <p:txBody>
          <a:bodyPr/>
          <a:p>
            <a:pPr marL="0" indent="0">
              <a:buNone/>
            </a:pPr>
            <a:r>
              <a:rPr lang="en-US" altLang="zh-CN" sz="2000"/>
              <a:t>URL: https://cwiki.apache.org/confluence/display/Hive/LanguageManual+WindowingAndAnalytics</a:t>
            </a:r>
            <a:endParaRPr lang="en-US" altLang="zh-CN" sz="2000"/>
          </a:p>
          <a:p>
            <a:pPr marL="0" indent="0">
              <a:buNone/>
            </a:pP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LEAD/LAG--</a:t>
            </a:r>
            <a:r>
              <a:rPr lang="zh-CN" altLang="en-US" sz="2000"/>
              <a:t>相对取值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first_value/last_value--</a:t>
            </a:r>
            <a:r>
              <a:rPr lang="zh-CN" altLang="en-US" sz="2000"/>
              <a:t>绝对取值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>
                <a:sym typeface="+mn-ea"/>
              </a:rPr>
              <a:t>count/sum/min/max/avg--</a:t>
            </a:r>
            <a:r>
              <a:rPr lang="zh-CN" altLang="en-US" sz="2000">
                <a:sym typeface="+mn-ea"/>
              </a:rPr>
              <a:t>相对聚合</a:t>
            </a:r>
            <a:endParaRPr lang="zh-CN" altLang="en-US" sz="2000">
              <a:sym typeface="+mn-ea"/>
            </a:endParaRPr>
          </a:p>
          <a:p>
            <a:pPr marL="0" indent="0">
              <a:buNone/>
            </a:pP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580" y="3383280"/>
            <a:ext cx="9314180" cy="25901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270" y="81280"/>
            <a:ext cx="8359140" cy="603250"/>
          </a:xfrm>
        </p:spPr>
        <p:txBody>
          <a:bodyPr>
            <a:normAutofit fontScale="90000"/>
          </a:bodyPr>
          <a:p>
            <a:r>
              <a:rPr lang="zh-CN" altLang="en-US"/>
              <a:t>窗口函数</a:t>
            </a:r>
            <a:r>
              <a:rPr lang="en-US" altLang="zh-CN"/>
              <a:t>-lead/lag </a:t>
            </a:r>
            <a:r>
              <a:rPr lang="zh-CN" altLang="en-US"/>
              <a:t>相对偏移取值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2595" y="772795"/>
            <a:ext cx="5648325" cy="2181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65" y="3068320"/>
            <a:ext cx="9476105" cy="346646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/>
        </p:nvSpPr>
        <p:spPr>
          <a:xfrm>
            <a:off x="6090920" y="399415"/>
            <a:ext cx="5167630" cy="23983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lead </a:t>
            </a:r>
            <a:r>
              <a:rPr lang="zh-CN" altLang="en-US" sz="1800"/>
              <a:t>向后取指定位置列值，如果没有则填默认值</a:t>
            </a:r>
            <a:endParaRPr lang="zh-CN" altLang="en-US" sz="1800"/>
          </a:p>
          <a:p>
            <a:r>
              <a:rPr lang="en-US" altLang="zh-CN" sz="1800"/>
              <a:t>lag </a:t>
            </a:r>
            <a:r>
              <a:rPr lang="zh-CN" altLang="en-US" sz="1800"/>
              <a:t>与</a:t>
            </a:r>
            <a:r>
              <a:rPr lang="en-US" altLang="zh-CN" sz="1800"/>
              <a:t>lead</a:t>
            </a:r>
            <a:r>
              <a:rPr lang="zh-CN" altLang="en-US" sz="1800"/>
              <a:t>向反，是向前取值</a:t>
            </a:r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r>
              <a:rPr lang="en-US" altLang="zh-CN" sz="1800"/>
              <a:t>lead(</a:t>
            </a:r>
            <a:r>
              <a:rPr lang="zh-CN" altLang="en-US" sz="1800"/>
              <a:t>取值列，窗口内偏移量，默认值</a:t>
            </a:r>
            <a:r>
              <a:rPr lang="en-US" altLang="zh-CN" sz="1800"/>
              <a:t>)</a:t>
            </a:r>
            <a:endParaRPr lang="en-US" altLang="zh-CN" sz="1800"/>
          </a:p>
          <a:p>
            <a:r>
              <a:rPr lang="en-US" altLang="zh-CN" sz="1800"/>
              <a:t>lag(</a:t>
            </a:r>
            <a:r>
              <a:rPr lang="zh-CN" altLang="en-US" sz="1800">
                <a:sym typeface="+mn-ea"/>
              </a:rPr>
              <a:t>取值列，窗口内偏移量，默认值</a:t>
            </a:r>
            <a:r>
              <a:rPr lang="en-US" altLang="zh-CN" sz="1800">
                <a:sym typeface="+mn-ea"/>
              </a:rPr>
              <a:t>)</a:t>
            </a:r>
            <a:endParaRPr lang="en-US" altLang="zh-CN" sz="1800">
              <a:sym typeface="+mn-ea"/>
            </a:endParaRPr>
          </a:p>
          <a:p>
            <a:endParaRPr lang="en-US" altLang="zh-CN" sz="1800">
              <a:sym typeface="+mn-ea"/>
            </a:endParaRPr>
          </a:p>
          <a:p>
            <a:r>
              <a:rPr lang="en-US" altLang="zh-CN" sz="1800">
                <a:sym typeface="+mn-ea"/>
              </a:rPr>
              <a:t>over(partition by </a:t>
            </a:r>
            <a:r>
              <a:rPr lang="zh-CN" altLang="en-US" sz="1800">
                <a:sym typeface="+mn-ea"/>
              </a:rPr>
              <a:t>分窗口的列 </a:t>
            </a:r>
            <a:r>
              <a:rPr lang="en-US" altLang="zh-CN" sz="1800">
                <a:sym typeface="+mn-ea"/>
              </a:rPr>
              <a:t>order by </a:t>
            </a:r>
            <a:r>
              <a:rPr lang="zh-CN" altLang="en-US" sz="1800">
                <a:sym typeface="+mn-ea"/>
              </a:rPr>
              <a:t>排序列 </a:t>
            </a:r>
            <a:r>
              <a:rPr lang="en-US" altLang="zh-CN" sz="1800">
                <a:sym typeface="+mn-ea"/>
              </a:rPr>
              <a:t>)</a:t>
            </a:r>
            <a:endParaRPr lang="en-US" altLang="zh-CN" sz="18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04360" y="3246120"/>
            <a:ext cx="3383280" cy="3657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ym typeface="+mn-ea"/>
              </a:rPr>
              <a:t>取值列，窗口内偏移量，默认值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270" y="81280"/>
            <a:ext cx="10344785" cy="603250"/>
          </a:xfrm>
        </p:spPr>
        <p:txBody>
          <a:bodyPr>
            <a:normAutofit fontScale="90000"/>
          </a:bodyPr>
          <a:p>
            <a:r>
              <a:rPr lang="zh-CN" altLang="en-US"/>
              <a:t>窗口函数</a:t>
            </a:r>
            <a:r>
              <a:rPr lang="en-US" altLang="zh-CN"/>
              <a:t>-first_value/last_value  </a:t>
            </a:r>
            <a:r>
              <a:rPr lang="zh-CN" altLang="en-US"/>
              <a:t>绝对偏移取值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15" y="684530"/>
            <a:ext cx="9409430" cy="24860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" y="3376930"/>
            <a:ext cx="8714105" cy="34569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31790" y="1358900"/>
            <a:ext cx="6397625" cy="1426210"/>
          </a:xfrm>
        </p:spPr>
        <p:txBody>
          <a:bodyPr>
            <a:normAutofit fontScale="90000"/>
          </a:bodyPr>
          <a:p>
            <a:r>
              <a:rPr lang="en-US" altLang="zh-CN" sz="2400"/>
              <a:t>hive 2.1 </a:t>
            </a:r>
            <a:r>
              <a:rPr lang="zh-CN" altLang="en-US" sz="2400"/>
              <a:t>支持在</a:t>
            </a:r>
            <a:r>
              <a:rPr lang="en-US" altLang="zh-CN" sz="2400"/>
              <a:t>count/sum/avg</a:t>
            </a:r>
            <a:r>
              <a:rPr lang="zh-CN" altLang="en-US" sz="2400"/>
              <a:t>窗口中使用</a:t>
            </a:r>
            <a:r>
              <a:rPr lang="en-US" altLang="zh-CN" sz="2400"/>
              <a:t>distinct,</a:t>
            </a:r>
            <a:r>
              <a:rPr lang="zh-CN" altLang="en-US" sz="2400"/>
              <a:t>实现窗口内去重</a:t>
            </a:r>
            <a:r>
              <a:rPr lang="en-US" altLang="zh-CN" sz="2400"/>
              <a:t>,</a:t>
            </a:r>
            <a:br>
              <a:rPr lang="zh-CN" altLang="en-US" sz="2400"/>
            </a:br>
            <a:r>
              <a:rPr lang="en-US" altLang="zh-CN" sz="2400"/>
              <a:t>hive2.2</a:t>
            </a:r>
            <a:r>
              <a:rPr lang="zh-CN" altLang="en-US" sz="2400"/>
              <a:t>支持在函数内使用</a:t>
            </a:r>
            <a:r>
              <a:rPr lang="en-US" altLang="zh-CN" sz="2400"/>
              <a:t>distinct </a:t>
            </a:r>
            <a:r>
              <a:rPr lang="zh-CN" altLang="en-US" sz="2400"/>
              <a:t>且窗口内使用</a:t>
            </a:r>
            <a:r>
              <a:rPr lang="en-US" altLang="zh-CN" sz="2400"/>
              <a:t>order by </a:t>
            </a:r>
            <a:endParaRPr lang="en-US" altLang="zh-CN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" y="3350895"/>
            <a:ext cx="12051665" cy="34474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" y="565150"/>
            <a:ext cx="4799965" cy="278574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/>
        </p:nvSpPr>
        <p:spPr>
          <a:xfrm>
            <a:off x="163830" y="55880"/>
            <a:ext cx="8592185" cy="603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/>
              <a:t>窗口函数</a:t>
            </a:r>
            <a:r>
              <a:rPr lang="en-US" altLang="zh-CN" b="1"/>
              <a:t>-count/sum/min/max/avg</a:t>
            </a:r>
            <a:endParaRPr lang="en-US" altLang="zh-CN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60" y="121285"/>
            <a:ext cx="10515600" cy="640715"/>
          </a:xfrm>
        </p:spPr>
        <p:txBody>
          <a:bodyPr>
            <a:normAutofit fontScale="90000"/>
          </a:bodyPr>
          <a:p>
            <a:r>
              <a:rPr lang="zh-CN" altLang="en-US"/>
              <a:t>分析函数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6760" y="107886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zh-CN" altLang="en-US"/>
              <a:t>RANK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ROW_NUMBER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DENSE_RANK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CUME_DIST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PERCENT_RANK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NTILE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515" y="136525"/>
            <a:ext cx="8716645" cy="651510"/>
          </a:xfrm>
        </p:spPr>
        <p:txBody>
          <a:bodyPr>
            <a:normAutofit fontScale="90000"/>
          </a:bodyPr>
          <a:p>
            <a:r>
              <a:rPr lang="zh-CN" altLang="en-US" b="1"/>
              <a:t>分析函数</a:t>
            </a:r>
            <a:r>
              <a:rPr lang="en-US" altLang="zh-CN" b="1"/>
              <a:t>-row_number/rank/dense_rank</a:t>
            </a:r>
            <a:endParaRPr lang="en-US" altLang="zh-CN" b="1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4360" y="985520"/>
            <a:ext cx="4676775" cy="23431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3420110"/>
            <a:ext cx="7761605" cy="337121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/>
        </p:nvSpPr>
        <p:spPr>
          <a:xfrm>
            <a:off x="5431155" y="985520"/>
            <a:ext cx="5805805" cy="1961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row_number :</a:t>
            </a:r>
            <a:r>
              <a:rPr lang="zh-CN" altLang="en-US" sz="1800"/>
              <a:t>按顺序组内自增，排序相同的也会增加序号</a:t>
            </a:r>
            <a:endParaRPr lang="zh-CN" altLang="en-US" sz="1800"/>
          </a:p>
          <a:p>
            <a:r>
              <a:rPr lang="en-US" altLang="zh-CN" sz="1800"/>
              <a:t>rank:</a:t>
            </a:r>
            <a:r>
              <a:rPr lang="zh-CN" altLang="en-US" sz="1800">
                <a:sym typeface="+mn-ea"/>
              </a:rPr>
              <a:t>按顺序组内自增</a:t>
            </a:r>
            <a:r>
              <a:rPr lang="en-US" altLang="zh-CN" sz="1800">
                <a:sym typeface="+mn-ea"/>
              </a:rPr>
              <a:t>,</a:t>
            </a:r>
            <a:r>
              <a:rPr lang="zh-CN" altLang="en-US" sz="1800">
                <a:sym typeface="+mn-ea"/>
              </a:rPr>
              <a:t>排序相同的，序号相同，序号不连续</a:t>
            </a:r>
            <a:endParaRPr lang="zh-CN" altLang="en-US" sz="1800">
              <a:sym typeface="+mn-ea"/>
            </a:endParaRPr>
          </a:p>
          <a:p>
            <a:r>
              <a:rPr lang="en-US" altLang="zh-CN" sz="1800"/>
              <a:t>dense_rank</a:t>
            </a:r>
            <a:r>
              <a:rPr lang="zh-CN" altLang="en-US" sz="1800"/>
              <a:t>：</a:t>
            </a:r>
            <a:r>
              <a:rPr lang="zh-CN" altLang="en-US" sz="1800">
                <a:sym typeface="+mn-ea"/>
              </a:rPr>
              <a:t>按顺序组内自增</a:t>
            </a:r>
            <a:r>
              <a:rPr lang="en-US" altLang="zh-CN" sz="1800">
                <a:sym typeface="+mn-ea"/>
              </a:rPr>
              <a:t>,</a:t>
            </a:r>
            <a:r>
              <a:rPr lang="zh-CN" altLang="en-US" sz="1800">
                <a:sym typeface="+mn-ea"/>
              </a:rPr>
              <a:t>排序相同的，序号相同，序号连续</a:t>
            </a:r>
            <a:endParaRPr lang="zh-CN" altLang="en-US" sz="180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025" y="3161030"/>
            <a:ext cx="2799715" cy="819150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/>
        </p:nvSpPr>
        <p:spPr>
          <a:xfrm>
            <a:off x="8345805" y="4328160"/>
            <a:ext cx="3368040" cy="11391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/>
              <a:t>hive2.1</a:t>
            </a:r>
            <a:r>
              <a:rPr lang="zh-CN" altLang="en-US" sz="1800"/>
              <a:t>支持在分析函数中使用聚合函数，如上图</a:t>
            </a:r>
            <a:endParaRPr lang="zh-CN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515" y="136525"/>
            <a:ext cx="8563610" cy="651510"/>
          </a:xfrm>
        </p:spPr>
        <p:txBody>
          <a:bodyPr>
            <a:normAutofit fontScale="90000"/>
          </a:bodyPr>
          <a:p>
            <a:r>
              <a:rPr lang="zh-CN" altLang="en-US"/>
              <a:t>分析函数</a:t>
            </a:r>
            <a:r>
              <a:rPr lang="en-US" altLang="zh-CN"/>
              <a:t>-cume_dist/percent_rank/ntile</a:t>
            </a:r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5431155" y="985520"/>
            <a:ext cx="5805805" cy="1961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800"/>
              <a:t>CUME_DIST 小于等于当前值的行数/分组内总行数</a:t>
            </a:r>
            <a:endParaRPr sz="1800"/>
          </a:p>
          <a:p>
            <a:r>
              <a:rPr sz="1800"/>
              <a:t>PERCENT_RANK 分组内当前行的RANK值-1/分组内总行数-1</a:t>
            </a:r>
            <a:endParaRPr sz="1800"/>
          </a:p>
          <a:p>
            <a:r>
              <a:rPr lang="en-US" altLang="zh-CN" sz="1800">
                <a:sym typeface="+mn-ea"/>
              </a:rPr>
              <a:t>ntile</a:t>
            </a:r>
            <a:r>
              <a:rPr lang="zh-CN" altLang="en-US" sz="1800">
                <a:sym typeface="+mn-ea"/>
              </a:rPr>
              <a:t>组内排序分组函数，并给出分组号</a:t>
            </a:r>
            <a:endParaRPr lang="zh-CN" altLang="en-US" sz="1800">
              <a:sym typeface="+mn-ea"/>
            </a:endParaRPr>
          </a:p>
          <a:p>
            <a:endParaRPr lang="zh-CN" altLang="en-US" sz="180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0830" y="3023870"/>
            <a:ext cx="8399780" cy="3380740"/>
          </a:xfrm>
          <a:prstGeom prst="rect">
            <a:avLst/>
          </a:prstGeom>
        </p:spPr>
      </p:pic>
      <p:pic>
        <p:nvPicPr>
          <p:cNvPr id="8" name="内容占位符 7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275" y="1052195"/>
            <a:ext cx="4648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" y="89535"/>
            <a:ext cx="10789920" cy="701675"/>
          </a:xfrm>
        </p:spPr>
        <p:txBody>
          <a:bodyPr>
            <a:normAutofit fontScale="90000"/>
          </a:bodyPr>
          <a:p>
            <a:r>
              <a:rPr lang="zh-CN" altLang="en-US"/>
              <a:t>聚合函数、</a:t>
            </a:r>
            <a:r>
              <a:rPr lang="en-US" altLang="zh-CN"/>
              <a:t>case when </a:t>
            </a:r>
            <a:r>
              <a:rPr lang="zh-CN" altLang="en-US"/>
              <a:t>与</a:t>
            </a:r>
            <a:r>
              <a:rPr lang="en-US" altLang="zh-CN"/>
              <a:t>row_number</a:t>
            </a:r>
            <a:r>
              <a:rPr lang="zh-CN" altLang="en-US"/>
              <a:t>结合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90575"/>
            <a:ext cx="10515600" cy="5386705"/>
          </a:xfrm>
        </p:spPr>
        <p:txBody>
          <a:bodyPr/>
          <a:p>
            <a:pPr marL="0" indent="0">
              <a:buNone/>
            </a:pPr>
            <a:r>
              <a:rPr lang="en-US" altLang="zh-CN"/>
              <a:t>row_number </a:t>
            </a:r>
            <a:r>
              <a:rPr lang="zh-CN" altLang="en-US"/>
              <a:t>用于分组排序，然后取指定序号的行数据</a:t>
            </a:r>
            <a:r>
              <a:rPr lang="en-US" altLang="zh-CN"/>
              <a:t>(rank/dense_rank</a:t>
            </a:r>
            <a:r>
              <a:rPr lang="zh-CN" altLang="en-US"/>
              <a:t>在同分组内同序号有多行的情况，一般不使用</a:t>
            </a:r>
            <a:r>
              <a:rPr lang="en-US" altLang="zh-CN"/>
              <a:t>)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聚合函数</a:t>
            </a:r>
            <a:r>
              <a:rPr lang="en-US" altLang="zh-CN"/>
              <a:t>+case when </a:t>
            </a:r>
            <a:r>
              <a:rPr lang="zh-CN" altLang="en-US"/>
              <a:t>用于行转列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具体例子：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取经纪人前</a:t>
            </a:r>
            <a:r>
              <a:rPr lang="en-US" altLang="zh-CN"/>
              <a:t>2</a:t>
            </a:r>
            <a:r>
              <a:rPr lang="zh-CN" altLang="en-US"/>
              <a:t>次带看的客源</a:t>
            </a:r>
            <a:r>
              <a:rPr lang="en-US" altLang="zh-CN"/>
              <a:t>ID </a:t>
            </a:r>
            <a:r>
              <a:rPr lang="zh-CN" altLang="en-US"/>
              <a:t>，及最后</a:t>
            </a:r>
            <a:r>
              <a:rPr lang="en-US" altLang="zh-CN"/>
              <a:t>2</a:t>
            </a:r>
            <a:r>
              <a:rPr lang="zh-CN" altLang="en-US"/>
              <a:t>次带看的客源</a:t>
            </a:r>
            <a:r>
              <a:rPr lang="en-US" altLang="zh-CN"/>
              <a:t>ID</a:t>
            </a:r>
            <a:r>
              <a:rPr lang="zh-CN" altLang="en-US"/>
              <a:t>，及带看的总次数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1565" y="3158490"/>
            <a:ext cx="5914390" cy="30187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9080" y="136525"/>
            <a:ext cx="3475355" cy="731520"/>
          </a:xfrm>
        </p:spPr>
        <p:txBody>
          <a:bodyPr>
            <a:normAutofit fontScale="90000"/>
          </a:bodyPr>
          <a:p>
            <a:r>
              <a:rPr lang="zh-CN" altLang="en-US"/>
              <a:t>列拆行 行合列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15695" y="1596390"/>
            <a:ext cx="4762500" cy="235966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/>
        </p:nvSpPr>
        <p:spPr>
          <a:xfrm>
            <a:off x="460375" y="720725"/>
            <a:ext cx="3475355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拆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95" y="4243070"/>
            <a:ext cx="2666365" cy="25050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535" y="432435"/>
            <a:ext cx="3866515" cy="3523615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/>
        </p:nvSpPr>
        <p:spPr>
          <a:xfrm>
            <a:off x="467360" y="3557270"/>
            <a:ext cx="3475355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合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875" y="5353050"/>
            <a:ext cx="4057015" cy="7239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555240" y="1195070"/>
            <a:ext cx="2540000" cy="119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https://cwiki.apache.org/confluence/display/Hive/LanguageManual+LateralView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947920" y="4243070"/>
            <a:ext cx="2540000" cy="91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https://cwiki.apache.org/confluence/display/Hive/LanguageManual+UDF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5240" y="-635"/>
            <a:ext cx="10515600" cy="731520"/>
          </a:xfrm>
        </p:spPr>
        <p:txBody>
          <a:bodyPr>
            <a:normAutofit fontScale="90000"/>
          </a:bodyPr>
          <a:p>
            <a:r>
              <a:rPr lang="zh-CN" altLang="en-US"/>
              <a:t>数据立方体 </a:t>
            </a:r>
            <a:r>
              <a:rPr lang="en-US" altLang="zh-CN"/>
              <a:t>rollup/cube/grouping sets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613410"/>
            <a:ext cx="10515600" cy="5631180"/>
          </a:xfrm>
        </p:spPr>
        <p:txBody>
          <a:bodyPr/>
          <a:p>
            <a:pPr marL="0" indent="0">
              <a:buNone/>
            </a:pPr>
            <a:r>
              <a:rPr lang="zh-CN" altLang="en-US"/>
              <a:t>需要各种维度组合或者各种维度下的相同指标汇总数使用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维度放在不同的列，指标放在相同的列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参与计算的维度列必须非空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35" y="2428240"/>
            <a:ext cx="4047490" cy="363220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/>
        </p:nvSpPr>
        <p:spPr>
          <a:xfrm>
            <a:off x="5201920" y="2244725"/>
            <a:ext cx="5852795" cy="408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/>
              <a:t>with rollup </a:t>
            </a:r>
            <a:r>
              <a:rPr lang="zh-CN" altLang="en-US" sz="2800"/>
              <a:t>上卷操作 </a:t>
            </a:r>
            <a:r>
              <a:rPr lang="zh-CN" altLang="en-US" sz="2800">
                <a:sym typeface="+mn-ea"/>
              </a:rPr>
              <a:t>有层级关系</a:t>
            </a:r>
            <a:endParaRPr lang="zh-CN" altLang="en-US" sz="2800"/>
          </a:p>
          <a:p>
            <a:r>
              <a:rPr lang="en-US" altLang="zh-CN" sz="2800"/>
              <a:t>with cube </a:t>
            </a:r>
            <a:r>
              <a:rPr lang="zh-CN" altLang="en-US" sz="2800"/>
              <a:t>各种列组合 维度独立</a:t>
            </a:r>
            <a:endParaRPr lang="zh-CN" altLang="en-US" sz="2800"/>
          </a:p>
          <a:p>
            <a:r>
              <a:rPr lang="en-US" altLang="zh-CN" sz="2800"/>
              <a:t>grouping sets</a:t>
            </a:r>
            <a:r>
              <a:rPr lang="zh-CN" altLang="en-US" sz="2800"/>
              <a:t>指定列组合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with rollup/cube </a:t>
            </a:r>
            <a:r>
              <a:rPr lang="zh-CN" altLang="en-US" sz="2800"/>
              <a:t>方便，但消耗资源</a:t>
            </a:r>
            <a:endParaRPr lang="zh-CN" altLang="en-US" sz="2800"/>
          </a:p>
          <a:p>
            <a:r>
              <a:rPr lang="en-US" altLang="zh-CN" sz="2800"/>
              <a:t>grouping sets </a:t>
            </a:r>
            <a:r>
              <a:rPr lang="zh-CN" altLang="en-US" sz="2800"/>
              <a:t>按需计算，但需要指定计算的维度组合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7401560" y="1156970"/>
            <a:ext cx="2540000" cy="14655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https://cwiki.apache.org/confluence/display/Hive/Enhanced+Aggregation%2C+Cube%2C+Grouping+and+Rollup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1850</Words>
  <Application>WPS 演示</Application>
  <PresentationFormat>宽屏</PresentationFormat>
  <Paragraphs>112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Calibri Light</vt:lpstr>
      <vt:lpstr>微软雅黑</vt:lpstr>
      <vt:lpstr>Calibri</vt:lpstr>
      <vt:lpstr>Office 主题</vt:lpstr>
      <vt:lpstr>SQL进阶指南</vt:lpstr>
      <vt:lpstr>1、CASE WHEN 2、窗口函数 3、分析函数 4、case when 与分析函数联合 5、列拆行/行合列 6、数据立方体 </vt:lpstr>
      <vt:lpstr>数据准备</vt:lpstr>
      <vt:lpstr>SQL-CASE WHEN /if() /nvl()</vt:lpstr>
      <vt:lpstr>case when -- 离散化 、合并</vt:lpstr>
      <vt:lpstr>case when -- 分支计算、行转列</vt:lpstr>
      <vt:lpstr>窗口函数</vt:lpstr>
      <vt:lpstr>窗口函数-lead/lag 相对偏移取值 </vt:lpstr>
      <vt:lpstr>窗口函数-first_value/last_value  绝对偏移取值</vt:lpstr>
      <vt:lpstr>hive 2.1 支持在count/sum/avg窗口中使用distinct,实现窗口内去重, hive2.2支持在函数内使用distinct 且窗口内使用order by </vt:lpstr>
      <vt:lpstr>分析函数</vt:lpstr>
      <vt:lpstr>分析函数-row_number/rank/dense_rank</vt:lpstr>
      <vt:lpstr>分析函数-cume_dist/percent_rank/ntile</vt:lpstr>
      <vt:lpstr>聚合函数、case when 与row_number结合</vt:lpstr>
      <vt:lpstr>列拆行 行合列</vt:lpstr>
      <vt:lpstr>数据立方体 rollup/cube/grouping sets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yws</dc:creator>
  <cp:lastModifiedBy>yws</cp:lastModifiedBy>
  <cp:revision>120</cp:revision>
  <dcterms:created xsi:type="dcterms:W3CDTF">2017-04-25T03:26:00Z</dcterms:created>
  <dcterms:modified xsi:type="dcterms:W3CDTF">2017-04-25T11:00:03Z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